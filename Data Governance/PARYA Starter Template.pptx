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23"/>
  </p:notesMasterIdLst>
  <p:sldIdLst>
    <p:sldId id="256" r:id="rId5"/>
    <p:sldId id="259" r:id="rId6"/>
    <p:sldId id="260" r:id="rId7"/>
    <p:sldId id="261" r:id="rId8"/>
    <p:sldId id="263" r:id="rId9"/>
    <p:sldId id="264" r:id="rId10"/>
    <p:sldId id="265" r:id="rId11"/>
    <p:sldId id="266" r:id="rId12"/>
    <p:sldId id="267" r:id="rId13"/>
    <p:sldId id="268" r:id="rId14"/>
    <p:sldId id="279" r:id="rId15"/>
    <p:sldId id="270" r:id="rId16"/>
    <p:sldId id="280" r:id="rId17"/>
    <p:sldId id="272" r:id="rId18"/>
    <p:sldId id="273" r:id="rId19"/>
    <p:sldId id="274" r:id="rId20"/>
    <p:sldId id="275" r:id="rId21"/>
    <p:sldId id="281" r:id="rId22"/>
  </p:sldIdLst>
  <p:sldSz cx="7772400" cy="10058400"/>
  <p:notesSz cx="6858000" cy="9144000"/>
  <p:embeddedFontLst>
    <p:embeddedFont>
      <p:font typeface="Helvetica Neue" panose="020B0604020202020204" charset="0"/>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Open Sans Light" panose="020B030603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2" d="100"/>
          <a:sy n="72" d="100"/>
        </p:scale>
        <p:origin x="30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font" Target="fonts/font1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4.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t>Invalid Contact Information</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197-4FA8-B1E9-0BC6B772C0B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197-4FA8-B1E9-0BC6B772C0B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 (4)'!$A$2:$A$3</c:f>
              <c:strCache>
                <c:ptCount val="2"/>
                <c:pt idx="0">
                  <c:v>invalid contact info</c:v>
                </c:pt>
                <c:pt idx="1">
                  <c:v>valid contact info</c:v>
                </c:pt>
              </c:strCache>
            </c:strRef>
          </c:cat>
          <c:val>
            <c:numRef>
              <c:f>'Sheet1 (4)'!$B$2:$B$3</c:f>
              <c:numCache>
                <c:formatCode>0.00%</c:formatCode>
                <c:ptCount val="2"/>
                <c:pt idx="0">
                  <c:v>0.1724</c:v>
                </c:pt>
                <c:pt idx="1">
                  <c:v>0.8276</c:v>
                </c:pt>
              </c:numCache>
            </c:numRef>
          </c:val>
          <c:extLst>
            <c:ext xmlns:c16="http://schemas.microsoft.com/office/drawing/2014/chart" uri="{C3380CC4-5D6E-409C-BE32-E72D297353CC}">
              <c16:uniqueId val="{00000004-C197-4FA8-B1E9-0BC6B772C0B3}"/>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Orders with Invalid Shipping</a:t>
            </a:r>
            <a:r>
              <a:rPr lang="en-GB" baseline="0"/>
              <a:t> Address</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914-4FFC-9B16-0CC69FA59DC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914-4FFC-9B16-0CC69FA59DC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invalid addresses</c:v>
                </c:pt>
                <c:pt idx="1">
                  <c:v>valid addresses</c:v>
                </c:pt>
              </c:strCache>
            </c:strRef>
          </c:cat>
          <c:val>
            <c:numRef>
              <c:f>Sheet1!$B$2:$B$3</c:f>
              <c:numCache>
                <c:formatCode>0.00%</c:formatCode>
                <c:ptCount val="2"/>
                <c:pt idx="0">
                  <c:v>8.1600000000000006E-2</c:v>
                </c:pt>
                <c:pt idx="1">
                  <c:v>0.91839999999999999</c:v>
                </c:pt>
              </c:numCache>
            </c:numRef>
          </c:val>
          <c:extLst>
            <c:ext xmlns:c16="http://schemas.microsoft.com/office/drawing/2014/chart" uri="{C3380CC4-5D6E-409C-BE32-E72D297353CC}">
              <c16:uniqueId val="{00000004-4914-4FFC-9B16-0CC69FA59DCA}"/>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t>Orders with Zero Total Amount</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90D-4C65-B8C4-5C6E825E54F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90D-4C65-B8C4-5C6E825E54F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 (2)'!$A$2:$A$3</c:f>
              <c:strCache>
                <c:ptCount val="2"/>
                <c:pt idx="0">
                  <c:v>Orders with Zero Total Amount</c:v>
                </c:pt>
                <c:pt idx="1">
                  <c:v>Orders withnon-zero Total Amount</c:v>
                </c:pt>
              </c:strCache>
            </c:strRef>
          </c:cat>
          <c:val>
            <c:numRef>
              <c:f>'Sheet1 (2)'!$B$2:$B$3</c:f>
              <c:numCache>
                <c:formatCode>0.00%</c:formatCode>
                <c:ptCount val="2"/>
                <c:pt idx="0">
                  <c:v>9.1800000000000007E-2</c:v>
                </c:pt>
                <c:pt idx="1">
                  <c:v>0.90820000000000001</c:v>
                </c:pt>
              </c:numCache>
            </c:numRef>
          </c:val>
          <c:extLst>
            <c:ext xmlns:c16="http://schemas.microsoft.com/office/drawing/2014/chart" uri="{C3380CC4-5D6E-409C-BE32-E72D297353CC}">
              <c16:uniqueId val="{00000004-090D-4C65-B8C4-5C6E825E54FA}"/>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t>Order Items Missing Sold Price</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AEF-4799-A028-CB25F3EC8FB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AEF-4799-A028-CB25F3EC8FB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 (3)'!$A$2:$A$3</c:f>
              <c:strCache>
                <c:ptCount val="2"/>
                <c:pt idx="0">
                  <c:v>Missing / Invalid Price</c:v>
                </c:pt>
                <c:pt idx="1">
                  <c:v>Valid Sold Price</c:v>
                </c:pt>
              </c:strCache>
            </c:strRef>
          </c:cat>
          <c:val>
            <c:numRef>
              <c:f>'Sheet1 (3)'!$B$2:$B$3</c:f>
              <c:numCache>
                <c:formatCode>0.00%</c:formatCode>
                <c:ptCount val="2"/>
                <c:pt idx="0">
                  <c:v>0.1148</c:v>
                </c:pt>
                <c:pt idx="1">
                  <c:v>0.88519999999999999</c:v>
                </c:pt>
              </c:numCache>
            </c:numRef>
          </c:val>
          <c:extLst>
            <c:ext xmlns:c16="http://schemas.microsoft.com/office/drawing/2014/chart" uri="{C3380CC4-5D6E-409C-BE32-E72D297353CC}">
              <c16:uniqueId val="{00000004-3AEF-4799-A028-CB25F3EC8FB0}"/>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cfc2a9a8d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cfc2a9a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c24cf9085_0_3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c24cf908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a1e537952f_0_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1e537952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d8c850c25_0_10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a1e537952f_0_1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a1e537952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9dd260ecd2_0_5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g9dd260ecd2_0_5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dd260ecd2_0_7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9dd260ecd2_0_7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9c24cf9085_0_7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9c24cf908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45bde9993_0_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a45bde9993_0_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a45bde9993_0_1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a45bde99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dd260ecd2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9dd260ecd2_0_8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5.xml"/><Relationship Id="rId5" Type="http://schemas.openxmlformats.org/officeDocument/2006/relationships/chart" Target="../charts/chart4.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296025" y="8600600"/>
            <a:ext cx="1052250" cy="1052250"/>
          </a:xfrm>
          <a:prstGeom prst="rect">
            <a:avLst/>
          </a:prstGeom>
          <a:noFill/>
          <a:ln>
            <a:noFill/>
          </a:ln>
        </p:spPr>
      </p:pic>
      <p:sp>
        <p:nvSpPr>
          <p:cNvPr id="178" name="Google Shape;178;p51"/>
          <p:cNvSpPr txBox="1">
            <a:spLocks noGrp="1"/>
          </p:cNvSpPr>
          <p:nvPr>
            <p:ph type="title" idx="4294967295"/>
          </p:nvPr>
        </p:nvSpPr>
        <p:spPr>
          <a:xfrm>
            <a:off x="264895" y="96629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dirty="0">
                <a:solidFill>
                  <a:srgbClr val="FFFFFF"/>
                </a:solidFill>
              </a:rPr>
              <a:t>Data Governance @ SneakerPark</a:t>
            </a:r>
            <a:endParaRPr sz="4000" dirty="0">
              <a:solidFill>
                <a:srgbClr val="FFFFFF"/>
              </a:solidFill>
            </a:endParaRPr>
          </a:p>
          <a:p>
            <a:pPr marL="0" lvl="0" indent="0" algn="l" rtl="0">
              <a:spcBef>
                <a:spcPts val="0"/>
              </a:spcBef>
              <a:spcAft>
                <a:spcPts val="0"/>
              </a:spcAft>
              <a:buNone/>
            </a:pPr>
            <a:endParaRPr dirty="0"/>
          </a:p>
        </p:txBody>
      </p:sp>
      <p:pic>
        <p:nvPicPr>
          <p:cNvPr id="179" name="Google Shape;179;p51"/>
          <p:cNvPicPr preferRelativeResize="0"/>
          <p:nvPr/>
        </p:nvPicPr>
        <p:blipFill rotWithShape="1">
          <a:blip r:embed="rId4">
            <a:alphaModFix/>
          </a:blip>
          <a:srcRect t="-1820" b="1820"/>
          <a:stretch/>
        </p:blipFill>
        <p:spPr>
          <a:xfrm>
            <a:off x="1617725" y="3728150"/>
            <a:ext cx="4506849" cy="2591575"/>
          </a:xfrm>
          <a:prstGeom prst="rect">
            <a:avLst/>
          </a:prstGeom>
          <a:noFill/>
          <a:ln>
            <a:noFill/>
          </a:ln>
        </p:spPr>
      </p:pic>
      <p:sp>
        <p:nvSpPr>
          <p:cNvPr id="180" name="Google Shape;180;p51"/>
          <p:cNvSpPr txBox="1"/>
          <p:nvPr/>
        </p:nvSpPr>
        <p:spPr>
          <a:xfrm>
            <a:off x="264900" y="9001125"/>
            <a:ext cx="4324200" cy="78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dirty="0">
                <a:solidFill>
                  <a:srgbClr val="EEEEEE"/>
                </a:solidFill>
                <a:latin typeface="Open Sans"/>
                <a:ea typeface="Open Sans"/>
                <a:cs typeface="Open Sans"/>
                <a:sym typeface="Open Sans"/>
              </a:rPr>
              <a:t>Prepared by: Pranav Arya</a:t>
            </a: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endParaRPr i="1" dirty="0">
              <a:solidFill>
                <a:srgbClr val="EEEEEE"/>
              </a:solidFill>
              <a:latin typeface="Open Sans"/>
              <a:ea typeface="Open Sans"/>
              <a:cs typeface="Open Sans"/>
              <a:sym typeface="Open Sans"/>
            </a:endParaRPr>
          </a:p>
          <a:p>
            <a:pPr marL="0" lvl="0" indent="0" algn="l" rtl="0">
              <a:spcBef>
                <a:spcPts val="0"/>
              </a:spcBef>
              <a:spcAft>
                <a:spcPts val="0"/>
              </a:spcAft>
              <a:buNone/>
            </a:pPr>
            <a:r>
              <a:rPr lang="en" i="1" dirty="0">
                <a:solidFill>
                  <a:srgbClr val="EEEEEE"/>
                </a:solidFill>
                <a:latin typeface="Open Sans"/>
                <a:ea typeface="Open Sans"/>
                <a:cs typeface="Open Sans"/>
                <a:sym typeface="Open Sans"/>
              </a:rPr>
              <a:t>Submitted on: 24/12/2025</a:t>
            </a:r>
            <a:endParaRPr i="1" dirty="0">
              <a:solidFill>
                <a:srgbClr val="EEEEEE"/>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4"/>
          <p:cNvSpPr txBox="1">
            <a:spLocks noGrp="1"/>
          </p:cNvSpPr>
          <p:nvPr>
            <p:ph type="title"/>
          </p:nvPr>
        </p:nvSpPr>
        <p:spPr>
          <a:xfrm>
            <a:off x="264895" y="1844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a:t>
            </a:r>
            <a:endParaRPr/>
          </a:p>
        </p:txBody>
      </p:sp>
      <p:sp>
        <p:nvSpPr>
          <p:cNvPr id="204" name="Google Shape;204;p54"/>
          <p:cNvSpPr txBox="1">
            <a:spLocks noGrp="1"/>
          </p:cNvSpPr>
          <p:nvPr>
            <p:ph type="body" idx="1"/>
          </p:nvPr>
        </p:nvSpPr>
        <p:spPr>
          <a:xfrm>
            <a:off x="264900" y="1420950"/>
            <a:ext cx="6932700" cy="8332800"/>
          </a:xfrm>
          <a:prstGeom prst="rect">
            <a:avLst/>
          </a:prstGeom>
        </p:spPr>
        <p:txBody>
          <a:bodyPr spcFirstLastPara="1" wrap="square" lIns="91425" tIns="91425" rIns="91425" bIns="91425" anchor="t" anchorCtr="0">
            <a:noAutofit/>
          </a:bodyPr>
          <a:lstStyle/>
          <a:p>
            <a:pPr marL="457200" lvl="0" indent="-336550" algn="just" rtl="0">
              <a:lnSpc>
                <a:spcPct val="150000"/>
              </a:lnSpc>
              <a:spcBef>
                <a:spcPts val="0"/>
              </a:spcBef>
              <a:spcAft>
                <a:spcPts val="0"/>
              </a:spcAft>
              <a:buClr>
                <a:srgbClr val="525C65"/>
              </a:buClr>
              <a:buSzPts val="1700"/>
              <a:buFont typeface="Open Sans"/>
              <a:buChar char="●"/>
            </a:pPr>
            <a:r>
              <a:rPr lang="en" sz="1700" b="1">
                <a:solidFill>
                  <a:srgbClr val="525C65"/>
                </a:solidFill>
                <a:highlight>
                  <a:srgbClr val="FFFFFF"/>
                </a:highlight>
                <a:latin typeface="Open Sans"/>
                <a:ea typeface="Open Sans"/>
                <a:cs typeface="Open Sans"/>
                <a:sym typeface="Open Sans"/>
              </a:rPr>
              <a:t>SneakerPark</a:t>
            </a:r>
            <a:r>
              <a:rPr lang="en" sz="1700">
                <a:solidFill>
                  <a:srgbClr val="525C65"/>
                </a:solidFill>
                <a:highlight>
                  <a:srgbClr val="FFFFFF"/>
                </a:highlight>
                <a:latin typeface="Open Sans"/>
                <a:ea typeface="Open Sans"/>
                <a:cs typeface="Open Sans"/>
                <a:sym typeface="Open Sans"/>
              </a:rPr>
              <a:t> is an online shoe reseller that allows people to buy and sell used and new shoes. Buyers can bid for shoes or buy them outright, and sellers can set a price or sell to the highest bidder.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Each buyer and seller must have an active account in order to sell, bid, or purchase sneakers using SneakerPark’s website.</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SneakerPark authenticates the shoes before shipping them to the buyer, so before listing an item, the seller must ship it to SneakerPark’s warehouse. Upon receipt, SneakerPark assigns an item number to each pair of sneakers and notifies the seller that they are now free to list their item. If the item is not listed within 45 days, SneakerPark returns it to the seller and sends an invoice to the seller for the shipping cost.</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If the item is found to be inauthentic or in an unacceptable condition, it is also returned back to the seller in a similar fashion.</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When the item sells, the buyer’s account is credited with the purchase price minus the SneakerPark service fee and shipping fees to deliver the item to the buyer.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Currently, SneakerPark only supports sales within the United States.</a:t>
            </a:r>
            <a:endParaRPr sz="170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1100"/>
              </a:spcBef>
              <a:spcAft>
                <a:spcPts val="400"/>
              </a:spcAft>
              <a:buClr>
                <a:schemeClr val="dk1"/>
              </a:buClr>
              <a:buSzPts val="1100"/>
              <a:buFont typeface="Arial"/>
              <a:buNone/>
            </a:pPr>
            <a:endParaRPr sz="1700" b="1">
              <a:solidFill>
                <a:srgbClr val="2E3D49"/>
              </a:solidFill>
              <a:highlight>
                <a:srgbClr val="FFFFFF"/>
              </a:highlight>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55"/>
          <p:cNvSpPr txBox="1">
            <a:spLocks noGrp="1"/>
          </p:cNvSpPr>
          <p:nvPr>
            <p:ph type="title"/>
          </p:nvPr>
        </p:nvSpPr>
        <p:spPr>
          <a:xfrm>
            <a:off x="264895" y="403546"/>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 (cont’d)</a:t>
            </a:r>
            <a:endParaRPr/>
          </a:p>
        </p:txBody>
      </p:sp>
      <p:sp>
        <p:nvSpPr>
          <p:cNvPr id="210" name="Google Shape;210;p55"/>
          <p:cNvSpPr txBox="1"/>
          <p:nvPr/>
        </p:nvSpPr>
        <p:spPr>
          <a:xfrm>
            <a:off x="228600" y="1562100"/>
            <a:ext cx="6876900" cy="2426400"/>
          </a:xfrm>
          <a:prstGeom prst="rect">
            <a:avLst/>
          </a:prstGeom>
          <a:noFill/>
          <a:ln>
            <a:noFill/>
          </a:ln>
        </p:spPr>
        <p:txBody>
          <a:bodyPr spcFirstLastPara="1" wrap="square" lIns="91425" tIns="91425" rIns="91425" bIns="91425" anchor="t" anchorCtr="0">
            <a:noAutofit/>
          </a:bodyPr>
          <a:lstStyle/>
          <a:p>
            <a:pPr marL="457200" lvl="0" indent="-342900" algn="just" rtl="0">
              <a:lnSpc>
                <a:spcPct val="170000"/>
              </a:lnSpc>
              <a:spcBef>
                <a:spcPts val="0"/>
              </a:spcBef>
              <a:spcAft>
                <a:spcPts val="0"/>
              </a:spcAft>
              <a:buClr>
                <a:srgbClr val="525C65"/>
              </a:buClr>
              <a:buSzPts val="1800"/>
              <a:buFont typeface="Open Sans"/>
              <a:buChar char="●"/>
            </a:pPr>
            <a:r>
              <a:rPr lang="en" sz="1800">
                <a:solidFill>
                  <a:srgbClr val="525C65"/>
                </a:solidFill>
                <a:highlight>
                  <a:srgbClr val="FFFFFF"/>
                </a:highlight>
                <a:latin typeface="Open Sans"/>
                <a:ea typeface="Open Sans"/>
                <a:cs typeface="Open Sans"/>
                <a:sym typeface="Open Sans"/>
              </a:rPr>
              <a:t>Below you can see a diagram that will hopefully help you visualize some of SneakerPark's business processes. Keep in mind that it does not capture ALL processes and every nuance, but simply serves as another artifact to use in your project.</a:t>
            </a:r>
            <a:endParaRPr sz="1800">
              <a:solidFill>
                <a:srgbClr val="525C65"/>
              </a:solidFill>
              <a:highlight>
                <a:srgbClr val="FFFFFF"/>
              </a:highlight>
              <a:latin typeface="Open Sans"/>
              <a:ea typeface="Open Sans"/>
              <a:cs typeface="Open Sans"/>
              <a:sym typeface="Open Sans"/>
            </a:endParaRPr>
          </a:p>
        </p:txBody>
      </p:sp>
      <p:pic>
        <p:nvPicPr>
          <p:cNvPr id="211" name="Google Shape;211;p55"/>
          <p:cNvPicPr preferRelativeResize="0"/>
          <p:nvPr/>
        </p:nvPicPr>
        <p:blipFill>
          <a:blip r:embed="rId3">
            <a:alphaModFix/>
          </a:blip>
          <a:stretch>
            <a:fillRect/>
          </a:stretch>
        </p:blipFill>
        <p:spPr>
          <a:xfrm>
            <a:off x="152400" y="4140900"/>
            <a:ext cx="7467599" cy="47086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15"/>
        <p:cNvGrpSpPr/>
        <p:nvPr/>
      </p:nvGrpSpPr>
      <p:grpSpPr>
        <a:xfrm>
          <a:off x="0" y="0"/>
          <a:ext cx="0" cy="0"/>
          <a:chOff x="0" y="0"/>
          <a:chExt cx="0" cy="0"/>
        </a:xfrm>
      </p:grpSpPr>
      <p:sp>
        <p:nvSpPr>
          <p:cNvPr id="216" name="Google Shape;216;p56"/>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7" name="Google Shape;217;p56"/>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8" name="Google Shape;218;p56"/>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1: Enterprise Data Model</a:t>
            </a:r>
            <a:endParaRPr sz="3000">
              <a:solidFill>
                <a:srgbClr val="FFFFFF"/>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58"/>
          <p:cNvSpPr txBox="1"/>
          <p:nvPr/>
        </p:nvSpPr>
        <p:spPr>
          <a:xfrm>
            <a:off x="466650" y="467050"/>
            <a:ext cx="6839100" cy="800100"/>
          </a:xfrm>
          <a:prstGeom prst="rect">
            <a:avLst/>
          </a:prstGeom>
          <a:noFill/>
          <a:ln>
            <a:noFill/>
          </a:ln>
        </p:spPr>
        <p:txBody>
          <a:bodyPr spcFirstLastPara="1" wrap="square" lIns="91425" tIns="91425" rIns="91425" bIns="91425" anchor="t" anchorCtr="0">
            <a:noAutofit/>
          </a:bodyPr>
          <a:lstStyle/>
          <a:p>
            <a:pPr lvl="0" algn="just">
              <a:lnSpc>
                <a:spcPct val="170000"/>
              </a:lnSpc>
            </a:pPr>
            <a:r>
              <a:rPr lang="en" sz="1600" b="1" dirty="0">
                <a:solidFill>
                  <a:srgbClr val="525C65"/>
                </a:solidFill>
                <a:highlight>
                  <a:schemeClr val="lt1"/>
                </a:highlight>
                <a:latin typeface="Open Sans"/>
                <a:ea typeface="Open Sans"/>
                <a:cs typeface="Open Sans"/>
                <a:sym typeface="Open Sans"/>
              </a:rPr>
              <a:t>Conceptual data model that provide sSneakerPark with a holistic view of its data systems and help grasp the organization's important entities and relationships</a:t>
            </a:r>
            <a:endParaRPr b="1" dirty="0">
              <a:solidFill>
                <a:srgbClr val="525C65"/>
              </a:solidFill>
              <a:highlight>
                <a:schemeClr val="lt1"/>
              </a:highlight>
              <a:latin typeface="Open Sans"/>
              <a:ea typeface="Open Sans"/>
              <a:cs typeface="Open Sans"/>
              <a:sym typeface="Open Sans"/>
            </a:endParaRPr>
          </a:p>
        </p:txBody>
      </p:sp>
      <p:pic>
        <p:nvPicPr>
          <p:cNvPr id="230" name="Google Shape;230;p58"/>
          <p:cNvPicPr preferRelativeResize="0"/>
          <p:nvPr/>
        </p:nvPicPr>
        <p:blipFill>
          <a:blip r:embed="rId3">
            <a:alphaModFix/>
          </a:blip>
          <a:stretch>
            <a:fillRect/>
          </a:stretch>
        </p:blipFill>
        <p:spPr>
          <a:xfrm>
            <a:off x="286275" y="2602801"/>
            <a:ext cx="6838951" cy="3633600"/>
          </a:xfrm>
          <a:prstGeom prst="rect">
            <a:avLst/>
          </a:prstGeom>
          <a:noFill/>
          <a:ln>
            <a:noFill/>
          </a:ln>
          <a:effectLst>
            <a:outerShdw blurRad="57150" dist="19050" dir="5400000" algn="bl" rotWithShape="0">
              <a:srgbClr val="000000">
                <a:alpha val="50000"/>
              </a:srgbClr>
            </a:outerShdw>
          </a:effectLst>
        </p:spPr>
      </p:pic>
      <p:pic>
        <p:nvPicPr>
          <p:cNvPr id="3" name="Picture 2">
            <a:extLst>
              <a:ext uri="{FF2B5EF4-FFF2-40B4-BE49-F238E27FC236}">
                <a16:creationId xmlns:a16="http://schemas.microsoft.com/office/drawing/2014/main" id="{B91079C9-DE3C-D891-8F87-AF9DBBCD5AD3}"/>
              </a:ext>
            </a:extLst>
          </p:cNvPr>
          <p:cNvPicPr>
            <a:picLocks noChangeAspect="1"/>
          </p:cNvPicPr>
          <p:nvPr/>
        </p:nvPicPr>
        <p:blipFill>
          <a:blip r:embed="rId4"/>
          <a:stretch>
            <a:fillRect/>
          </a:stretch>
        </p:blipFill>
        <p:spPr>
          <a:xfrm>
            <a:off x="0" y="2436592"/>
            <a:ext cx="7772400" cy="51852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4"/>
        <p:cNvGrpSpPr/>
        <p:nvPr/>
      </p:nvGrpSpPr>
      <p:grpSpPr>
        <a:xfrm>
          <a:off x="0" y="0"/>
          <a:ext cx="0" cy="0"/>
          <a:chOff x="0" y="0"/>
          <a:chExt cx="0" cy="0"/>
        </a:xfrm>
      </p:grpSpPr>
      <p:sp>
        <p:nvSpPr>
          <p:cNvPr id="235" name="Google Shape;235;p59"/>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36" name="Google Shape;236;p59"/>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2: Metadata</a:t>
            </a:r>
            <a:endParaRPr sz="3000">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60"/>
          <p:cNvSpPr txBox="1">
            <a:spLocks noGrp="1"/>
          </p:cNvSpPr>
          <p:nvPr>
            <p:ph type="body" idx="1"/>
          </p:nvPr>
        </p:nvSpPr>
        <p:spPr>
          <a:xfrm>
            <a:off x="264900" y="110600"/>
            <a:ext cx="7366800" cy="1041900"/>
          </a:xfrm>
          <a:prstGeom prst="rect">
            <a:avLst/>
          </a:prstGeom>
        </p:spPr>
        <p:txBody>
          <a:bodyPr spcFirstLastPara="1" wrap="square" lIns="91425" tIns="91425" rIns="91425" bIns="91425" anchor="t" anchorCtr="0">
            <a:noAutofit/>
          </a:bodyPr>
          <a:lstStyle/>
          <a:p>
            <a:pPr marL="241300" marR="241300" lvl="0" indent="0" algn="just" rtl="0">
              <a:lnSpc>
                <a:spcPct val="170000"/>
              </a:lnSpc>
              <a:spcBef>
                <a:spcPts val="3800"/>
              </a:spcBef>
              <a:spcAft>
                <a:spcPts val="0"/>
              </a:spcAft>
              <a:buNone/>
            </a:pPr>
            <a:r>
              <a:rPr lang="en" sz="1600" dirty="0">
                <a:solidFill>
                  <a:srgbClr val="525C65"/>
                </a:solidFill>
                <a:highlight>
                  <a:srgbClr val="FFFFFF"/>
                </a:highlight>
                <a:latin typeface="Open Sans"/>
                <a:ea typeface="Open Sans"/>
                <a:cs typeface="Open Sans"/>
                <a:sym typeface="Open Sans"/>
              </a:rPr>
              <a:t>Create the first version of the Metadata Catalog by documenting the metadata from all systems in the "Data Dictionary" and the “Enterprise Data Catalog” tabs of the provided Sheets template.</a:t>
            </a: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1100"/>
              </a:spcAft>
              <a:buClr>
                <a:schemeClr val="dk1"/>
              </a:buClr>
              <a:buSzPts val="1100"/>
              <a:buFont typeface="Arial"/>
              <a:buNone/>
            </a:pPr>
            <a:r>
              <a:rPr lang="en" sz="1600" dirty="0">
                <a:solidFill>
                  <a:srgbClr val="525C65"/>
                </a:solidFill>
                <a:highlight>
                  <a:srgbClr val="FFFFFF"/>
                </a:highlight>
                <a:latin typeface="Open Sans"/>
                <a:ea typeface="Open Sans"/>
                <a:cs typeface="Open Sans"/>
                <a:sym typeface="Open Sans"/>
              </a:rPr>
              <a:t>Please note that you are required to fill out </a:t>
            </a:r>
            <a:r>
              <a:rPr lang="en" sz="1600" b="1" dirty="0">
                <a:solidFill>
                  <a:srgbClr val="525C65"/>
                </a:solidFill>
                <a:highlight>
                  <a:srgbClr val="FFFFFF"/>
                </a:highlight>
                <a:latin typeface="Open Sans"/>
                <a:ea typeface="Open Sans"/>
                <a:cs typeface="Open Sans"/>
                <a:sym typeface="Open Sans"/>
              </a:rPr>
              <a:t>all fields</a:t>
            </a:r>
            <a:r>
              <a:rPr lang="en" sz="1600" dirty="0">
                <a:solidFill>
                  <a:srgbClr val="525C65"/>
                </a:solidFill>
                <a:highlight>
                  <a:srgbClr val="FFFFFF"/>
                </a:highlight>
                <a:latin typeface="Open Sans"/>
                <a:ea typeface="Open Sans"/>
                <a:cs typeface="Open Sans"/>
                <a:sym typeface="Open Sans"/>
              </a:rPr>
              <a:t> in </a:t>
            </a:r>
            <a:r>
              <a:rPr lang="en" sz="1600" b="1" dirty="0">
                <a:solidFill>
                  <a:srgbClr val="525C65"/>
                </a:solidFill>
                <a:highlight>
                  <a:srgbClr val="FFFFFF"/>
                </a:highlight>
                <a:latin typeface="Open Sans"/>
                <a:ea typeface="Open Sans"/>
                <a:cs typeface="Open Sans"/>
                <a:sym typeface="Open Sans"/>
              </a:rPr>
              <a:t>both tabs</a:t>
            </a:r>
            <a:r>
              <a:rPr lang="en" sz="1600" dirty="0">
                <a:solidFill>
                  <a:srgbClr val="525C65"/>
                </a:solidFill>
                <a:highlight>
                  <a:srgbClr val="FFFFFF"/>
                </a:highlight>
                <a:latin typeface="Open Sans"/>
                <a:ea typeface="Open Sans"/>
                <a:cs typeface="Open Sans"/>
                <a:sym typeface="Open Sans"/>
              </a:rPr>
              <a:t>.</a:t>
            </a:r>
          </a:p>
          <a:p>
            <a:pPr marL="241300" marR="241300" lvl="0" indent="0" algn="just" rtl="0">
              <a:lnSpc>
                <a:spcPct val="170000"/>
              </a:lnSpc>
              <a:spcBef>
                <a:spcPts val="3800"/>
              </a:spcBef>
              <a:spcAft>
                <a:spcPts val="1100"/>
              </a:spcAft>
              <a:buClr>
                <a:schemeClr val="dk1"/>
              </a:buClr>
              <a:buSzPts val="1100"/>
              <a:buFont typeface="Arial"/>
              <a:buNone/>
            </a:pPr>
            <a:r>
              <a:rPr lang="en" sz="1600" dirty="0">
                <a:solidFill>
                  <a:srgbClr val="525C65"/>
                </a:solidFill>
                <a:highlight>
                  <a:srgbClr val="FFFFFF"/>
                </a:highlight>
                <a:latin typeface="Open Sans"/>
                <a:ea typeface="Open Sans"/>
                <a:cs typeface="Open Sans"/>
                <a:sym typeface="Open Sans"/>
              </a:rPr>
              <a:t>SEE EXCEL FILE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45"/>
        <p:cNvGrpSpPr/>
        <p:nvPr/>
      </p:nvGrpSpPr>
      <p:grpSpPr>
        <a:xfrm>
          <a:off x="0" y="0"/>
          <a:ext cx="0" cy="0"/>
          <a:chOff x="0" y="0"/>
          <a:chExt cx="0" cy="0"/>
        </a:xfrm>
      </p:grpSpPr>
      <p:sp>
        <p:nvSpPr>
          <p:cNvPr id="246" name="Google Shape;246;p61"/>
          <p:cNvSpPr/>
          <p:nvPr/>
        </p:nvSpPr>
        <p:spPr>
          <a:xfrm>
            <a:off x="1051200" y="4003550"/>
            <a:ext cx="5670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1: Profiling and Cleansing</a:t>
            </a:r>
            <a:endParaRPr sz="3000">
              <a:solidFill>
                <a:srgbClr val="FFFFFF"/>
              </a:solidFill>
              <a:latin typeface="Open Sans"/>
              <a:ea typeface="Open Sans"/>
              <a:cs typeface="Open Sans"/>
              <a:sym typeface="Open Sans"/>
            </a:endParaRPr>
          </a:p>
        </p:txBody>
      </p:sp>
      <p:sp>
        <p:nvSpPr>
          <p:cNvPr id="247" name="Google Shape;247;p61"/>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62"/>
          <p:cNvSpPr txBox="1"/>
          <p:nvPr/>
        </p:nvSpPr>
        <p:spPr>
          <a:xfrm>
            <a:off x="504500" y="425675"/>
            <a:ext cx="6810600" cy="30000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dirty="0">
                <a:solidFill>
                  <a:srgbClr val="525C65"/>
                </a:solidFill>
                <a:highlight>
                  <a:srgbClr val="FFFFFF"/>
                </a:highlight>
                <a:latin typeface="Open Sans"/>
                <a:ea typeface="Open Sans"/>
                <a:cs typeface="Open Sans"/>
                <a:sym typeface="Open Sans"/>
              </a:rPr>
              <a:t>Profile the data to identify at least </a:t>
            </a:r>
            <a:r>
              <a:rPr lang="en" sz="1600" b="1" dirty="0">
                <a:solidFill>
                  <a:srgbClr val="525C65"/>
                </a:solidFill>
                <a:highlight>
                  <a:srgbClr val="FFFFFF"/>
                </a:highlight>
                <a:latin typeface="Open Sans"/>
                <a:ea typeface="Open Sans"/>
                <a:cs typeface="Open Sans"/>
                <a:sym typeface="Open Sans"/>
              </a:rPr>
              <a:t>3 data quality issues</a:t>
            </a:r>
            <a:r>
              <a:rPr lang="en" sz="1600" dirty="0">
                <a:solidFill>
                  <a:srgbClr val="525C65"/>
                </a:solidFill>
                <a:highlight>
                  <a:srgbClr val="FFFFFF"/>
                </a:highlight>
                <a:latin typeface="Open Sans"/>
                <a:ea typeface="Open Sans"/>
                <a:cs typeface="Open Sans"/>
                <a:sym typeface="Open Sans"/>
              </a:rPr>
              <a:t> you see in the data. Also provide </a:t>
            </a:r>
            <a:r>
              <a:rPr lang="en" sz="1600" b="1" dirty="0">
                <a:solidFill>
                  <a:srgbClr val="525C65"/>
                </a:solidFill>
                <a:highlight>
                  <a:srgbClr val="FFFFFF"/>
                </a:highlight>
                <a:latin typeface="Open Sans"/>
                <a:ea typeface="Open Sans"/>
                <a:cs typeface="Open Sans"/>
                <a:sym typeface="Open Sans"/>
              </a:rPr>
              <a:t>at least 1 data quality issue that you haven’t yet seen</a:t>
            </a:r>
            <a:r>
              <a:rPr lang="en" sz="1600" dirty="0">
                <a:solidFill>
                  <a:srgbClr val="525C65"/>
                </a:solidFill>
                <a:highlight>
                  <a:srgbClr val="FFFFFF"/>
                </a:highlight>
                <a:latin typeface="Open Sans"/>
                <a:ea typeface="Open Sans"/>
                <a:cs typeface="Open Sans"/>
                <a:sym typeface="Open Sans"/>
              </a:rPr>
              <a:t> in the data, but can foresee occurring in the future. Based on the issues you’ve identified, come up with the data quality rule for each data quality issue, including for the one that you foresee.</a:t>
            </a:r>
            <a:endParaRPr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Make sure you fill out </a:t>
            </a:r>
            <a:r>
              <a:rPr lang="en" sz="1600" b="1" dirty="0">
                <a:solidFill>
                  <a:srgbClr val="525C65"/>
                </a:solidFill>
                <a:highlight>
                  <a:srgbClr val="FFFFFF"/>
                </a:highlight>
                <a:latin typeface="Open Sans"/>
                <a:ea typeface="Open Sans"/>
                <a:cs typeface="Open Sans"/>
                <a:sym typeface="Open Sans"/>
              </a:rPr>
              <a:t>all</a:t>
            </a:r>
            <a:r>
              <a:rPr lang="en" sz="1600" dirty="0">
                <a:solidFill>
                  <a:srgbClr val="525C65"/>
                </a:solidFill>
                <a:highlight>
                  <a:srgbClr val="FFFFFF"/>
                </a:highlight>
                <a:latin typeface="Open Sans"/>
                <a:ea typeface="Open Sans"/>
                <a:cs typeface="Open Sans"/>
                <a:sym typeface="Open Sans"/>
              </a:rPr>
              <a:t> columns in the "Data Quality Issues" tab with your answers in the provided Sheets template.</a:t>
            </a:r>
          </a:p>
          <a:p>
            <a:pPr marL="0" lvl="0" indent="0" algn="just" rtl="0">
              <a:lnSpc>
                <a:spcPct val="170000"/>
              </a:lnSpc>
              <a:spcBef>
                <a:spcPts val="1100"/>
              </a:spcBef>
              <a:spcAft>
                <a:spcPts val="1100"/>
              </a:spcAft>
              <a:buNone/>
            </a:pPr>
            <a:endParaRPr lang="en"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SEE EXCEL FILE</a:t>
            </a:r>
            <a:endParaRPr sz="1600" dirty="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56"/>
        <p:cNvGrpSpPr/>
        <p:nvPr/>
      </p:nvGrpSpPr>
      <p:grpSpPr>
        <a:xfrm>
          <a:off x="0" y="0"/>
          <a:ext cx="0" cy="0"/>
          <a:chOff x="0" y="0"/>
          <a:chExt cx="0" cy="0"/>
        </a:xfrm>
      </p:grpSpPr>
      <p:sp>
        <p:nvSpPr>
          <p:cNvPr id="257" name="Google Shape;257;p63"/>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2: Monitoring</a:t>
            </a:r>
            <a:endParaRPr sz="3000">
              <a:solidFill>
                <a:srgbClr val="FFFFFF"/>
              </a:solidFill>
              <a:latin typeface="Open Sans"/>
              <a:ea typeface="Open Sans"/>
              <a:cs typeface="Open Sans"/>
              <a:sym typeface="Open Sans"/>
            </a:endParaRPr>
          </a:p>
        </p:txBody>
      </p:sp>
      <p:sp>
        <p:nvSpPr>
          <p:cNvPr id="258" name="Google Shape;258;p63"/>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8673CB78-5A55-4C4A-8295-5B6E3A4F7648}"/>
              </a:ext>
            </a:extLst>
          </p:cNvPr>
          <p:cNvGraphicFramePr>
            <a:graphicFrameLocks/>
          </p:cNvGraphicFramePr>
          <p:nvPr>
            <p:extLst>
              <p:ext uri="{D42A27DB-BD31-4B8C-83A1-F6EECF244321}">
                <p14:modId xmlns:p14="http://schemas.microsoft.com/office/powerpoint/2010/main" val="1433262857"/>
              </p:ext>
            </p:extLst>
          </p:nvPr>
        </p:nvGraphicFramePr>
        <p:xfrm>
          <a:off x="3091070" y="7448550"/>
          <a:ext cx="5181600" cy="26098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C7B1D6AC-4DC8-4BBB-842C-714A8CB3EFDB}"/>
              </a:ext>
            </a:extLst>
          </p:cNvPr>
          <p:cNvGraphicFramePr>
            <a:graphicFrameLocks/>
          </p:cNvGraphicFramePr>
          <p:nvPr>
            <p:extLst>
              <p:ext uri="{D42A27DB-BD31-4B8C-83A1-F6EECF244321}">
                <p14:modId xmlns:p14="http://schemas.microsoft.com/office/powerpoint/2010/main" val="4260616593"/>
              </p:ext>
            </p:extLst>
          </p:nvPr>
        </p:nvGraphicFramePr>
        <p:xfrm>
          <a:off x="-205612" y="5029200"/>
          <a:ext cx="5181600" cy="26098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26FDB8F5-3D60-484D-BDCE-42F01B5F9CFC}"/>
              </a:ext>
            </a:extLst>
          </p:cNvPr>
          <p:cNvGraphicFramePr>
            <a:graphicFrameLocks/>
          </p:cNvGraphicFramePr>
          <p:nvPr>
            <p:extLst>
              <p:ext uri="{D42A27DB-BD31-4B8C-83A1-F6EECF244321}">
                <p14:modId xmlns:p14="http://schemas.microsoft.com/office/powerpoint/2010/main" val="1028663941"/>
              </p:ext>
            </p:extLst>
          </p:nvPr>
        </p:nvGraphicFramePr>
        <p:xfrm>
          <a:off x="-205612" y="7448550"/>
          <a:ext cx="5181600" cy="26098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059CD548-A24C-410F-A36F-8642D696D229}"/>
              </a:ext>
            </a:extLst>
          </p:cNvPr>
          <p:cNvGraphicFramePr>
            <a:graphicFrameLocks/>
          </p:cNvGraphicFramePr>
          <p:nvPr>
            <p:extLst>
              <p:ext uri="{D42A27DB-BD31-4B8C-83A1-F6EECF244321}">
                <p14:modId xmlns:p14="http://schemas.microsoft.com/office/powerpoint/2010/main" val="1860453678"/>
              </p:ext>
            </p:extLst>
          </p:nvPr>
        </p:nvGraphicFramePr>
        <p:xfrm>
          <a:off x="3091070" y="5029200"/>
          <a:ext cx="5181600" cy="260985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D1C6434D-E7A4-8CA5-8B75-EFFA700D2291}"/>
              </a:ext>
            </a:extLst>
          </p:cNvPr>
          <p:cNvSpPr txBox="1"/>
          <p:nvPr/>
        </p:nvSpPr>
        <p:spPr>
          <a:xfrm>
            <a:off x="0" y="0"/>
            <a:ext cx="7772400" cy="1898405"/>
          </a:xfrm>
          <a:prstGeom prst="rect">
            <a:avLst/>
          </a:prstGeom>
          <a:noFill/>
        </p:spPr>
        <p:txBody>
          <a:bodyPr wrap="square">
            <a:spAutoFit/>
          </a:bodyPr>
          <a:lstStyle/>
          <a:p>
            <a:pPr marL="0" lvl="0" indent="0" algn="l" rtl="0">
              <a:lnSpc>
                <a:spcPct val="170000"/>
              </a:lnSpc>
              <a:spcBef>
                <a:spcPts val="0"/>
              </a:spcBef>
              <a:spcAft>
                <a:spcPts val="0"/>
              </a:spcAft>
              <a:buClr>
                <a:schemeClr val="dk1"/>
              </a:buClr>
              <a:buSzPts val="1100"/>
              <a:buFont typeface="Arial"/>
              <a:buNone/>
            </a:pPr>
            <a:r>
              <a:rPr lang="en-US" sz="2400" dirty="0">
                <a:solidFill>
                  <a:srgbClr val="525C65"/>
                </a:solidFill>
                <a:highlight>
                  <a:srgbClr val="FFFFFF"/>
                </a:highlight>
                <a:latin typeface="Open Sans"/>
                <a:ea typeface="Open Sans"/>
                <a:cs typeface="Open Sans"/>
                <a:sym typeface="Open Sans"/>
              </a:rPr>
              <a:t>Mock-up of a data quality monitoring dashboard that will be used to monitor the data to ensure compliance with data quality rules.</a:t>
            </a:r>
          </a:p>
        </p:txBody>
      </p:sp>
    </p:spTree>
    <p:extLst>
      <p:ext uri="{BB962C8B-B14F-4D97-AF65-F5344CB8AC3E}">
        <p14:creationId xmlns:p14="http://schemas.microsoft.com/office/powerpoint/2010/main" val="427247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5</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1: MDM Architecture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31BDB9-19A5-CF08-AEE9-C44DB8BAEE8B}"/>
              </a:ext>
            </a:extLst>
          </p:cNvPr>
          <p:cNvPicPr>
            <a:picLocks noChangeAspect="1"/>
          </p:cNvPicPr>
          <p:nvPr/>
        </p:nvPicPr>
        <p:blipFill>
          <a:blip r:embed="rId2"/>
          <a:stretch>
            <a:fillRect/>
          </a:stretch>
        </p:blipFill>
        <p:spPr>
          <a:xfrm>
            <a:off x="0" y="3152678"/>
            <a:ext cx="7772400" cy="3753044"/>
          </a:xfrm>
          <a:prstGeom prst="rect">
            <a:avLst/>
          </a:prstGeom>
        </p:spPr>
      </p:pic>
      <p:sp>
        <p:nvSpPr>
          <p:cNvPr id="7" name="TextBox 6">
            <a:extLst>
              <a:ext uri="{FF2B5EF4-FFF2-40B4-BE49-F238E27FC236}">
                <a16:creationId xmlns:a16="http://schemas.microsoft.com/office/drawing/2014/main" id="{3F6DC9BA-F186-6A53-0CB9-0B9FDF4AAC53}"/>
              </a:ext>
            </a:extLst>
          </p:cNvPr>
          <p:cNvSpPr txBox="1"/>
          <p:nvPr/>
        </p:nvSpPr>
        <p:spPr>
          <a:xfrm>
            <a:off x="-1" y="1149747"/>
            <a:ext cx="7772399" cy="461665"/>
          </a:xfrm>
          <a:prstGeom prst="rect">
            <a:avLst/>
          </a:prstGeom>
          <a:noFill/>
        </p:spPr>
        <p:txBody>
          <a:bodyPr wrap="square">
            <a:spAutoFit/>
          </a:bodyPr>
          <a:lstStyle/>
          <a:p>
            <a:r>
              <a:rPr lang="en" sz="2400" b="1" dirty="0">
                <a:solidFill>
                  <a:srgbClr val="525C65"/>
                </a:solidFill>
                <a:highlight>
                  <a:srgbClr val="FFFFFF"/>
                </a:highlight>
                <a:latin typeface="Open Sans"/>
                <a:ea typeface="Open Sans"/>
                <a:cs typeface="Open Sans"/>
                <a:sym typeface="Open Sans"/>
              </a:rPr>
              <a:t>Proposed MDM implementation architecture</a:t>
            </a:r>
            <a:endParaRPr lang="en-GB" sz="2400" b="1" dirty="0"/>
          </a:p>
        </p:txBody>
      </p:sp>
    </p:spTree>
    <p:extLst>
      <p:ext uri="{BB962C8B-B14F-4D97-AF65-F5344CB8AC3E}">
        <p14:creationId xmlns:p14="http://schemas.microsoft.com/office/powerpoint/2010/main" val="3065005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body" idx="1"/>
          </p:nvPr>
        </p:nvSpPr>
        <p:spPr>
          <a:xfrm>
            <a:off x="465150" y="524225"/>
            <a:ext cx="6842100" cy="1371300"/>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Clr>
                <a:schemeClr val="dk1"/>
              </a:buClr>
              <a:buSzPts val="1100"/>
              <a:buFont typeface="Arial"/>
              <a:buNone/>
            </a:pPr>
            <a:r>
              <a:rPr lang="en" sz="1800" b="1" dirty="0">
                <a:solidFill>
                  <a:srgbClr val="525C65"/>
                </a:solidFill>
                <a:highlight>
                  <a:schemeClr val="lt1"/>
                </a:highlight>
                <a:latin typeface="Open Sans"/>
                <a:ea typeface="Open Sans"/>
                <a:cs typeface="Open Sans"/>
                <a:sym typeface="Open Sans"/>
              </a:rPr>
              <a:t>Explanation:</a:t>
            </a:r>
          </a:p>
          <a:p>
            <a:pPr marL="0" lvl="0" indent="0" algn="just" rtl="0">
              <a:spcBef>
                <a:spcPts val="0"/>
              </a:spcBef>
              <a:spcAft>
                <a:spcPts val="1600"/>
              </a:spcAft>
              <a:buClr>
                <a:schemeClr val="dk1"/>
              </a:buClr>
              <a:buSzPts val="1100"/>
              <a:buFont typeface="Arial"/>
              <a:buNone/>
            </a:pPr>
            <a:r>
              <a:rPr lang="en-US" sz="1600" dirty="0" err="1">
                <a:solidFill>
                  <a:srgbClr val="525C65"/>
                </a:solidFill>
                <a:highlight>
                  <a:srgbClr val="FFFFFF"/>
                </a:highlight>
                <a:latin typeface="Open Sans"/>
                <a:ea typeface="Open Sans"/>
                <a:cs typeface="Open Sans"/>
                <a:sym typeface="Open Sans"/>
              </a:rPr>
              <a:t>SneakerPark</a:t>
            </a:r>
            <a:r>
              <a:rPr lang="en-US" sz="1600" dirty="0">
                <a:solidFill>
                  <a:srgbClr val="525C65"/>
                </a:solidFill>
                <a:highlight>
                  <a:srgbClr val="FFFFFF"/>
                </a:highlight>
                <a:latin typeface="Open Sans"/>
                <a:ea typeface="Open Sans"/>
                <a:cs typeface="Open Sans"/>
                <a:sym typeface="Open Sans"/>
              </a:rPr>
              <a:t> operates several operational systems that create and manage their own master data. The proposed Consolidated MDM architecture for </a:t>
            </a:r>
            <a:r>
              <a:rPr lang="en-US" sz="1600" dirty="0" err="1">
                <a:solidFill>
                  <a:srgbClr val="525C65"/>
                </a:solidFill>
                <a:highlight>
                  <a:srgbClr val="FFFFFF"/>
                </a:highlight>
                <a:latin typeface="Open Sans"/>
                <a:ea typeface="Open Sans"/>
                <a:cs typeface="Open Sans"/>
                <a:sym typeface="Open Sans"/>
              </a:rPr>
              <a:t>SneakerPark</a:t>
            </a:r>
            <a:r>
              <a:rPr lang="en-US" sz="1600" dirty="0">
                <a:solidFill>
                  <a:srgbClr val="525C65"/>
                </a:solidFill>
                <a:highlight>
                  <a:srgbClr val="FFFFFF"/>
                </a:highlight>
                <a:latin typeface="Open Sans"/>
                <a:ea typeface="Open Sans"/>
                <a:cs typeface="Open Sans"/>
                <a:sym typeface="Open Sans"/>
              </a:rPr>
              <a:t> consists of multiple source systems, which act as the systems of record where master data is created and maintained. It avoids disrupting existing business processes or ownership models. This will allow </a:t>
            </a:r>
            <a:r>
              <a:rPr lang="en-US" sz="1600" dirty="0" err="1">
                <a:solidFill>
                  <a:srgbClr val="525C65"/>
                </a:solidFill>
                <a:highlight>
                  <a:srgbClr val="FFFFFF"/>
                </a:highlight>
                <a:latin typeface="Open Sans"/>
                <a:ea typeface="Open Sans"/>
                <a:cs typeface="Open Sans"/>
                <a:sym typeface="Open Sans"/>
              </a:rPr>
              <a:t>SneakerPark</a:t>
            </a:r>
            <a:r>
              <a:rPr lang="en-US" sz="1600" dirty="0">
                <a:solidFill>
                  <a:srgbClr val="525C65"/>
                </a:solidFill>
                <a:highlight>
                  <a:srgbClr val="FFFFFF"/>
                </a:highlight>
                <a:latin typeface="Open Sans"/>
                <a:ea typeface="Open Sans"/>
                <a:cs typeface="Open Sans"/>
                <a:sym typeface="Open Sans"/>
              </a:rPr>
              <a:t> to improve data quality and visibility without forcing changes to how source systems create or update data.</a:t>
            </a:r>
          </a:p>
          <a:p>
            <a:pPr marL="0" lvl="0" indent="0" algn="just" rtl="0">
              <a:spcBef>
                <a:spcPts val="0"/>
              </a:spcBef>
              <a:spcAft>
                <a:spcPts val="1600"/>
              </a:spcAft>
              <a:buClr>
                <a:schemeClr val="dk1"/>
              </a:buClr>
              <a:buSzPts val="1100"/>
              <a:buFont typeface="Arial"/>
              <a:buNone/>
            </a:pPr>
            <a:r>
              <a:rPr lang="en-US" sz="1600" dirty="0">
                <a:solidFill>
                  <a:srgbClr val="525C65"/>
                </a:solidFill>
                <a:highlight>
                  <a:srgbClr val="FFFFFF"/>
                </a:highlight>
                <a:latin typeface="Open Sans"/>
                <a:ea typeface="Open Sans"/>
                <a:cs typeface="Open Sans"/>
                <a:sym typeface="Open Sans"/>
              </a:rPr>
              <a:t>Master data from these source systems is extracted on a scheduled batch basis where the data is loaded into a </a:t>
            </a:r>
            <a:r>
              <a:rPr lang="en-US" sz="1600" dirty="0" err="1">
                <a:solidFill>
                  <a:srgbClr val="525C65"/>
                </a:solidFill>
                <a:highlight>
                  <a:srgbClr val="FFFFFF"/>
                </a:highlight>
                <a:latin typeface="Open Sans"/>
                <a:ea typeface="Open Sans"/>
                <a:cs typeface="Open Sans"/>
                <a:sym typeface="Open Sans"/>
              </a:rPr>
              <a:t>centralised</a:t>
            </a:r>
            <a:r>
              <a:rPr lang="en-US" sz="1600" dirty="0">
                <a:solidFill>
                  <a:srgbClr val="525C65"/>
                </a:solidFill>
                <a:highlight>
                  <a:srgbClr val="FFFFFF"/>
                </a:highlight>
                <a:latin typeface="Open Sans"/>
                <a:ea typeface="Open Sans"/>
                <a:cs typeface="Open Sans"/>
                <a:sym typeface="Open Sans"/>
              </a:rPr>
              <a:t> MDM Hub. Consolidate MDM is suited to this, because it balances improved data quality with moderate implementation complexity and cost.</a:t>
            </a:r>
          </a:p>
          <a:p>
            <a:pPr marL="0" lvl="0" indent="0" algn="just" rtl="0">
              <a:spcBef>
                <a:spcPts val="0"/>
              </a:spcBef>
              <a:spcAft>
                <a:spcPts val="1600"/>
              </a:spcAft>
              <a:buClr>
                <a:schemeClr val="dk1"/>
              </a:buClr>
              <a:buSzPts val="1100"/>
              <a:buFont typeface="Arial"/>
              <a:buNone/>
            </a:pPr>
            <a:r>
              <a:rPr lang="en-US" sz="1600" dirty="0">
                <a:solidFill>
                  <a:srgbClr val="525C65"/>
                </a:solidFill>
                <a:highlight>
                  <a:srgbClr val="FFFFFF"/>
                </a:highlight>
                <a:latin typeface="Open Sans"/>
                <a:ea typeface="Open Sans"/>
                <a:cs typeface="Open Sans"/>
                <a:sym typeface="Open Sans"/>
              </a:rPr>
              <a:t>The MDM Hub stores consolidated master data as golden records for key entities such as customers, listings, and orders, and applies data quality rules to ensure consistency and accuracy. The golden records in a centralized MDM Hub addresses the challenges with duplicate, inconsistent and incomplete data across system, producing a single, authoritative version of master data, improving data accuracy and consistency for reporting and customer analysis without requiring centralized control over data creation.</a:t>
            </a:r>
          </a:p>
          <a:p>
            <a:pPr marL="0" lvl="0" indent="0" algn="just" rtl="0">
              <a:spcBef>
                <a:spcPts val="0"/>
              </a:spcBef>
              <a:spcAft>
                <a:spcPts val="1600"/>
              </a:spcAft>
              <a:buClr>
                <a:schemeClr val="dk1"/>
              </a:buClr>
              <a:buSzPts val="1100"/>
              <a:buFont typeface="Arial"/>
              <a:buNone/>
            </a:pPr>
            <a:r>
              <a:rPr lang="en-US" sz="1600" dirty="0">
                <a:solidFill>
                  <a:srgbClr val="525C65"/>
                </a:solidFill>
                <a:highlight>
                  <a:srgbClr val="FFFFFF"/>
                </a:highlight>
                <a:latin typeface="Open Sans"/>
                <a:ea typeface="Open Sans"/>
                <a:cs typeface="Open Sans"/>
                <a:sym typeface="Open Sans"/>
              </a:rPr>
              <a:t> The mastered data then flows one way from the MDM Hub to downstream consumers, including reporting and analytics dashboards and a future Enterprise Data Warehouse planned for Phase 2, providing a trusted view of master data without writing changes back to the operational source systems and with minimal impact on existing systems.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85"/>
        <p:cNvGrpSpPr/>
        <p:nvPr/>
      </p:nvGrpSpPr>
      <p:grpSpPr>
        <a:xfrm>
          <a:off x="0" y="0"/>
          <a:ext cx="0" cy="0"/>
          <a:chOff x="0" y="0"/>
          <a:chExt cx="0" cy="0"/>
        </a:xfrm>
      </p:grpSpPr>
      <p:sp>
        <p:nvSpPr>
          <p:cNvPr id="286" name="Google Shape;286;p68"/>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6</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2: Master Record</a:t>
            </a:r>
            <a:endParaRPr sz="3000">
              <a:solidFill>
                <a:srgbClr val="FFFFFF"/>
              </a:solidFill>
              <a:latin typeface="Open Sans"/>
              <a:ea typeface="Open Sans"/>
              <a:cs typeface="Open Sans"/>
              <a:sym typeface="Open Sans"/>
            </a:endParaRPr>
          </a:p>
        </p:txBody>
      </p:sp>
      <p:sp>
        <p:nvSpPr>
          <p:cNvPr id="287" name="Google Shape;287;p68"/>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69"/>
          <p:cNvSpPr txBox="1">
            <a:spLocks noGrp="1"/>
          </p:cNvSpPr>
          <p:nvPr>
            <p:ph type="body" idx="1"/>
          </p:nvPr>
        </p:nvSpPr>
        <p:spPr>
          <a:xfrm>
            <a:off x="432450" y="717975"/>
            <a:ext cx="6907500" cy="4777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600" dirty="0">
                <a:solidFill>
                  <a:schemeClr val="tx1"/>
                </a:solidFill>
                <a:highlight>
                  <a:srgbClr val="FFFFFF"/>
                </a:highlight>
                <a:latin typeface="Open Sans"/>
                <a:ea typeface="Open Sans"/>
                <a:cs typeface="Open Sans"/>
                <a:sym typeface="Open Sans"/>
              </a:rPr>
              <a:t>Matching rules that will be used by the SneakerPark's MDM Hub to match item and customer entities between the company's different systems.</a:t>
            </a:r>
            <a:endParaRPr sz="1600" dirty="0">
              <a:solidFill>
                <a:schemeClr val="tx1"/>
              </a:solidFill>
              <a:highlight>
                <a:srgbClr val="FFFFFF"/>
              </a:highlight>
              <a:latin typeface="Open Sans"/>
              <a:ea typeface="Open Sans"/>
              <a:cs typeface="Open Sans"/>
              <a:sym typeface="Open Sans"/>
            </a:endParaRPr>
          </a:p>
          <a:p>
            <a:pPr marL="0" lvl="0" indent="0" algn="just" rtl="0">
              <a:spcBef>
                <a:spcPts val="1600"/>
              </a:spcBef>
              <a:spcAft>
                <a:spcPts val="0"/>
              </a:spcAft>
              <a:buNone/>
            </a:pPr>
            <a:r>
              <a:rPr lang="en" sz="1600" dirty="0">
                <a:solidFill>
                  <a:schemeClr val="tx1"/>
                </a:solidFill>
                <a:highlight>
                  <a:srgbClr val="FFFFFF"/>
                </a:highlight>
                <a:latin typeface="Open Sans"/>
                <a:ea typeface="Open Sans"/>
                <a:cs typeface="Open Sans"/>
                <a:sym typeface="Open Sans"/>
              </a:rPr>
              <a:t>Items:</a:t>
            </a:r>
          </a:p>
          <a:p>
            <a:pPr marL="0" indent="0" algn="just">
              <a:spcBef>
                <a:spcPts val="1600"/>
              </a:spcBef>
              <a:buNone/>
            </a:pPr>
            <a:r>
              <a:rPr lang="en" sz="1600" dirty="0">
                <a:solidFill>
                  <a:schemeClr val="tx1"/>
                </a:solidFill>
                <a:highlight>
                  <a:srgbClr val="FFFFFF"/>
                </a:highlight>
                <a:latin typeface="Open Sans"/>
                <a:ea typeface="Open Sans"/>
                <a:cs typeface="Open Sans"/>
                <a:sym typeface="Open Sans"/>
              </a:rPr>
              <a:t>Item ID Rule – Match item records between the Inventory Management System and other systems via itemid and itemname, present in </a:t>
            </a:r>
            <a:r>
              <a:rPr lang="en-US" sz="1600" dirty="0">
                <a:solidFill>
                  <a:schemeClr val="tx1"/>
                </a:solidFill>
                <a:highlight>
                  <a:srgbClr val="FFFFFF"/>
                </a:highlight>
                <a:latin typeface="Open Sans"/>
                <a:ea typeface="Open Sans"/>
                <a:cs typeface="Open Sans"/>
                <a:sym typeface="Open Sans"/>
              </a:rPr>
              <a:t>inventory management system. Can also use </a:t>
            </a:r>
            <a:r>
              <a:rPr lang="en-US" sz="1600" dirty="0" err="1">
                <a:solidFill>
                  <a:schemeClr val="tx1"/>
                </a:solidFill>
                <a:highlight>
                  <a:srgbClr val="FFFFFF"/>
                </a:highlight>
                <a:latin typeface="Open Sans"/>
                <a:ea typeface="Open Sans"/>
                <a:cs typeface="Open Sans"/>
                <a:sym typeface="Open Sans"/>
              </a:rPr>
              <a:t>sellerid</a:t>
            </a:r>
            <a:r>
              <a:rPr lang="en-US" sz="1600" dirty="0">
                <a:solidFill>
                  <a:schemeClr val="tx1"/>
                </a:solidFill>
                <a:highlight>
                  <a:srgbClr val="FFFFFF"/>
                </a:highlight>
                <a:latin typeface="Open Sans"/>
                <a:ea typeface="Open Sans"/>
                <a:cs typeface="Open Sans"/>
                <a:sym typeface="Open Sans"/>
              </a:rPr>
              <a:t>, which is present in the listings table.</a:t>
            </a:r>
          </a:p>
          <a:p>
            <a:pPr marL="0" indent="0" algn="just">
              <a:spcBef>
                <a:spcPts val="1600"/>
              </a:spcBef>
              <a:buNone/>
            </a:pPr>
            <a:r>
              <a:rPr lang="en-US" sz="1600" dirty="0">
                <a:solidFill>
                  <a:schemeClr val="tx1"/>
                </a:solidFill>
                <a:highlight>
                  <a:srgbClr val="FFFFFF"/>
                </a:highlight>
                <a:latin typeface="Open Sans"/>
                <a:ea typeface="Open Sans"/>
                <a:cs typeface="Open Sans"/>
                <a:sym typeface="Open Sans"/>
              </a:rPr>
              <a:t>Product Attribute Rule – Match item records from the items table in inventory management system to listings table in listing service. Product attributes are in the columns: color, size, and condition. There are also common columns but with different names, between tables listings/items, including </a:t>
            </a:r>
            <a:r>
              <a:rPr lang="en-US" sz="1600" dirty="0" err="1">
                <a:solidFill>
                  <a:schemeClr val="tx1"/>
                </a:solidFill>
                <a:highlight>
                  <a:srgbClr val="FFFFFF"/>
                </a:highlight>
                <a:latin typeface="Open Sans"/>
                <a:ea typeface="Open Sans"/>
                <a:cs typeface="Open Sans"/>
                <a:sym typeface="Open Sans"/>
              </a:rPr>
              <a:t>shoetype</a:t>
            </a:r>
            <a:r>
              <a:rPr lang="en-US" sz="1600" dirty="0">
                <a:solidFill>
                  <a:schemeClr val="tx1"/>
                </a:solidFill>
                <a:highlight>
                  <a:srgbClr val="FFFFFF"/>
                </a:highlight>
                <a:latin typeface="Open Sans"/>
                <a:ea typeface="Open Sans"/>
                <a:cs typeface="Open Sans"/>
                <a:sym typeface="Open Sans"/>
              </a:rPr>
              <a:t>/type, brand/</a:t>
            </a:r>
            <a:r>
              <a:rPr lang="en-US" sz="1600" dirty="0" err="1">
                <a:solidFill>
                  <a:schemeClr val="tx1"/>
                </a:solidFill>
                <a:highlight>
                  <a:srgbClr val="FFFFFF"/>
                </a:highlight>
                <a:latin typeface="Open Sans"/>
                <a:ea typeface="Open Sans"/>
                <a:cs typeface="Open Sans"/>
                <a:sym typeface="Open Sans"/>
              </a:rPr>
              <a:t>brandname</a:t>
            </a:r>
            <a:r>
              <a:rPr lang="en-US" sz="1600" dirty="0">
                <a:solidFill>
                  <a:schemeClr val="tx1"/>
                </a:solidFill>
                <a:highlight>
                  <a:srgbClr val="FFFFFF"/>
                </a:highlight>
                <a:latin typeface="Open Sans"/>
                <a:ea typeface="Open Sans"/>
                <a:cs typeface="Open Sans"/>
                <a:sym typeface="Open Sans"/>
              </a:rPr>
              <a:t>, gender/sex.</a:t>
            </a:r>
          </a:p>
          <a:p>
            <a:pPr marL="0" lvl="0" indent="0" algn="just" rtl="0">
              <a:spcBef>
                <a:spcPts val="1600"/>
              </a:spcBef>
              <a:spcAft>
                <a:spcPts val="0"/>
              </a:spcAft>
              <a:buNone/>
            </a:pPr>
            <a:endParaRPr lang="en-US" sz="1600" dirty="0">
              <a:solidFill>
                <a:schemeClr val="tx1"/>
              </a:solidFill>
              <a:highlight>
                <a:srgbClr val="FFFFFF"/>
              </a:highlight>
              <a:latin typeface="Open Sans"/>
              <a:ea typeface="Open Sans"/>
              <a:cs typeface="Open Sans"/>
              <a:sym typeface="Open Sans"/>
            </a:endParaRPr>
          </a:p>
          <a:p>
            <a:pPr marL="0" lvl="0" indent="0" algn="just" rtl="0">
              <a:spcBef>
                <a:spcPts val="1600"/>
              </a:spcBef>
              <a:spcAft>
                <a:spcPts val="0"/>
              </a:spcAft>
              <a:buNone/>
            </a:pPr>
            <a:r>
              <a:rPr lang="en-US" sz="1600" dirty="0">
                <a:solidFill>
                  <a:schemeClr val="tx1"/>
                </a:solidFill>
                <a:highlight>
                  <a:srgbClr val="FFFFFF"/>
                </a:highlight>
                <a:latin typeface="Open Sans"/>
                <a:ea typeface="Open Sans"/>
                <a:cs typeface="Open Sans"/>
                <a:sym typeface="Open Sans"/>
              </a:rPr>
              <a:t>Customer:</a:t>
            </a:r>
          </a:p>
          <a:p>
            <a:pPr marL="0" lvl="0" indent="0" algn="just" rtl="0">
              <a:spcBef>
                <a:spcPts val="1600"/>
              </a:spcBef>
              <a:spcAft>
                <a:spcPts val="0"/>
              </a:spcAft>
              <a:buNone/>
            </a:pPr>
            <a:r>
              <a:rPr lang="en-US" sz="1600" dirty="0">
                <a:solidFill>
                  <a:schemeClr val="tx1"/>
                </a:solidFill>
                <a:highlight>
                  <a:srgbClr val="FFFFFF"/>
                </a:highlight>
                <a:latin typeface="Open Sans"/>
                <a:ea typeface="Open Sans"/>
                <a:cs typeface="Open Sans"/>
                <a:sym typeface="Open Sans"/>
              </a:rPr>
              <a:t>User ID Rule - Match customer records using </a:t>
            </a:r>
            <a:r>
              <a:rPr lang="en-US" sz="1600" dirty="0" err="1">
                <a:solidFill>
                  <a:schemeClr val="tx1"/>
                </a:solidFill>
                <a:highlight>
                  <a:srgbClr val="FFFFFF"/>
                </a:highlight>
                <a:latin typeface="Open Sans"/>
                <a:ea typeface="Open Sans"/>
                <a:cs typeface="Open Sans"/>
                <a:sym typeface="Open Sans"/>
              </a:rPr>
              <a:t>userid</a:t>
            </a:r>
            <a:r>
              <a:rPr lang="en-US" sz="1600" dirty="0">
                <a:solidFill>
                  <a:schemeClr val="tx1"/>
                </a:solidFill>
                <a:highlight>
                  <a:srgbClr val="FFFFFF"/>
                </a:highlight>
                <a:latin typeface="Open Sans"/>
                <a:ea typeface="Open Sans"/>
                <a:cs typeface="Open Sans"/>
                <a:sym typeface="Open Sans"/>
              </a:rPr>
              <a:t> across tables users, customer service requests, </a:t>
            </a:r>
            <a:r>
              <a:rPr lang="en-US" sz="1600" dirty="0" err="1">
                <a:solidFill>
                  <a:schemeClr val="tx1"/>
                </a:solidFill>
                <a:highlight>
                  <a:srgbClr val="FFFFFF"/>
                </a:highlight>
                <a:latin typeface="Open Sans"/>
                <a:ea typeface="Open Sans"/>
                <a:cs typeface="Open Sans"/>
                <a:sym typeface="Open Sans"/>
              </a:rPr>
              <a:t>creditcards</a:t>
            </a:r>
            <a:r>
              <a:rPr lang="en-US" sz="1600" dirty="0">
                <a:solidFill>
                  <a:schemeClr val="tx1"/>
                </a:solidFill>
                <a:highlight>
                  <a:srgbClr val="FFFFFF"/>
                </a:highlight>
                <a:latin typeface="Open Sans"/>
                <a:ea typeface="Open Sans"/>
                <a:cs typeface="Open Sans"/>
                <a:sym typeface="Open Sans"/>
              </a:rPr>
              <a:t>. In the table orders, </a:t>
            </a:r>
            <a:r>
              <a:rPr lang="en-US" sz="1600" dirty="0" err="1">
                <a:solidFill>
                  <a:schemeClr val="tx1"/>
                </a:solidFill>
                <a:highlight>
                  <a:srgbClr val="FFFFFF"/>
                </a:highlight>
                <a:latin typeface="Open Sans"/>
                <a:ea typeface="Open Sans"/>
                <a:cs typeface="Open Sans"/>
                <a:sym typeface="Open Sans"/>
              </a:rPr>
              <a:t>userid</a:t>
            </a:r>
            <a:r>
              <a:rPr lang="en-US" sz="1600" dirty="0">
                <a:solidFill>
                  <a:schemeClr val="tx1"/>
                </a:solidFill>
                <a:highlight>
                  <a:srgbClr val="FFFFFF"/>
                </a:highlight>
                <a:latin typeface="Open Sans"/>
                <a:ea typeface="Open Sans"/>
                <a:cs typeface="Open Sans"/>
                <a:sym typeface="Open Sans"/>
              </a:rPr>
              <a:t> is </a:t>
            </a:r>
            <a:r>
              <a:rPr lang="en-US" sz="1600" dirty="0" err="1">
                <a:solidFill>
                  <a:schemeClr val="tx1"/>
                </a:solidFill>
                <a:highlight>
                  <a:srgbClr val="FFFFFF"/>
                </a:highlight>
                <a:latin typeface="Open Sans"/>
                <a:ea typeface="Open Sans"/>
                <a:cs typeface="Open Sans"/>
                <a:sym typeface="Open Sans"/>
              </a:rPr>
              <a:t>buyerid</a:t>
            </a:r>
            <a:r>
              <a:rPr lang="en-US" sz="1600" dirty="0">
                <a:solidFill>
                  <a:schemeClr val="tx1"/>
                </a:solidFill>
                <a:highlight>
                  <a:srgbClr val="FFFFFF"/>
                </a:highlight>
                <a:latin typeface="Open Sans"/>
                <a:ea typeface="Open Sans"/>
                <a:cs typeface="Open Sans"/>
                <a:sym typeface="Open Sans"/>
              </a:rPr>
              <a:t> in the Ordering System. This identifier is shared across systems and thus is good for matching customers</a:t>
            </a:r>
          </a:p>
          <a:p>
            <a:pPr marL="0" lvl="0" indent="0" algn="just" rtl="0">
              <a:spcBef>
                <a:spcPts val="1600"/>
              </a:spcBef>
              <a:spcAft>
                <a:spcPts val="0"/>
              </a:spcAft>
              <a:buNone/>
            </a:pPr>
            <a:r>
              <a:rPr lang="en-US" sz="1600" dirty="0">
                <a:solidFill>
                  <a:schemeClr val="tx1"/>
                </a:solidFill>
                <a:highlight>
                  <a:srgbClr val="FFFFFF"/>
                </a:highlight>
                <a:latin typeface="Open Sans"/>
                <a:ea typeface="Open Sans"/>
                <a:cs typeface="Open Sans"/>
                <a:sym typeface="Open Sans"/>
              </a:rPr>
              <a:t>Name and Email Rule – Match customer records using a combination of first name, last name and email address. Good for customer matching when </a:t>
            </a:r>
            <a:r>
              <a:rPr lang="en-US" sz="1600" dirty="0" err="1">
                <a:solidFill>
                  <a:schemeClr val="tx1"/>
                </a:solidFill>
                <a:highlight>
                  <a:srgbClr val="FFFFFF"/>
                </a:highlight>
                <a:latin typeface="Open Sans"/>
                <a:ea typeface="Open Sans"/>
                <a:cs typeface="Open Sans"/>
                <a:sym typeface="Open Sans"/>
              </a:rPr>
              <a:t>userid</a:t>
            </a:r>
            <a:r>
              <a:rPr lang="en-US" sz="1600" dirty="0">
                <a:solidFill>
                  <a:schemeClr val="tx1"/>
                </a:solidFill>
                <a:highlight>
                  <a:srgbClr val="FFFFFF"/>
                </a:highlight>
                <a:latin typeface="Open Sans"/>
                <a:ea typeface="Open Sans"/>
                <a:cs typeface="Open Sans"/>
                <a:sym typeface="Open Sans"/>
              </a:rPr>
              <a:t> has inconsistencies and is unable to match/user id not available. Email is good to use if different users have same first and </a:t>
            </a:r>
            <a:r>
              <a:rPr lang="en-US" sz="1600" dirty="0" err="1">
                <a:solidFill>
                  <a:schemeClr val="tx1"/>
                </a:solidFill>
                <a:highlight>
                  <a:srgbClr val="FFFFFF"/>
                </a:highlight>
                <a:latin typeface="Open Sans"/>
                <a:ea typeface="Open Sans"/>
                <a:cs typeface="Open Sans"/>
                <a:sym typeface="Open Sans"/>
              </a:rPr>
              <a:t>ast</a:t>
            </a:r>
            <a:r>
              <a:rPr lang="en-US" sz="1600" dirty="0">
                <a:solidFill>
                  <a:schemeClr val="tx1"/>
                </a:solidFill>
                <a:highlight>
                  <a:srgbClr val="FFFFFF"/>
                </a:highlight>
                <a:latin typeface="Open Sans"/>
                <a:ea typeface="Open Sans"/>
                <a:cs typeface="Open Sans"/>
                <a:sym typeface="Open Sans"/>
              </a:rPr>
              <a:t> name. Useful for User Service systems and Customer Service Application systems; these have tables with all 3 columns</a:t>
            </a:r>
            <a:endParaRPr sz="1600" dirty="0">
              <a:solidFill>
                <a:schemeClr val="tx1"/>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chemeClr val="tx1"/>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chemeClr val="tx1"/>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chemeClr val="tx1"/>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chemeClr val="tx1"/>
              </a:solidFill>
              <a:highlight>
                <a:srgbClr val="FFFFFF"/>
              </a:highlight>
              <a:latin typeface="Open Sans"/>
              <a:ea typeface="Open Sans"/>
              <a:cs typeface="Open Sans"/>
              <a:sym typeface="Open Sans"/>
            </a:endParaRPr>
          </a:p>
          <a:p>
            <a:pPr marL="0" marR="241300" lvl="0" indent="0" algn="just" rtl="0">
              <a:lnSpc>
                <a:spcPct val="170000"/>
              </a:lnSpc>
              <a:spcBef>
                <a:spcPts val="3800"/>
              </a:spcBef>
              <a:spcAft>
                <a:spcPts val="0"/>
              </a:spcAft>
              <a:buClr>
                <a:schemeClr val="dk1"/>
              </a:buClr>
              <a:buSzPts val="1100"/>
              <a:buFont typeface="Arial"/>
              <a:buNone/>
            </a:pPr>
            <a:endParaRPr sz="1400" dirty="0">
              <a:solidFill>
                <a:schemeClr val="tx1"/>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Clr>
                <a:schemeClr val="dk1"/>
              </a:buClr>
              <a:buSzPts val="1100"/>
              <a:buFont typeface="Arial"/>
              <a:buNone/>
            </a:pPr>
            <a:endParaRPr sz="1600" dirty="0">
              <a:solidFill>
                <a:schemeClr val="tx1"/>
              </a:solidFill>
              <a:highlight>
                <a:srgbClr val="FFFFFF"/>
              </a:highlight>
              <a:latin typeface="Open Sans"/>
              <a:ea typeface="Open Sans"/>
              <a:cs typeface="Open Sans"/>
              <a:sym typeface="Open Sans"/>
            </a:endParaRPr>
          </a:p>
          <a:p>
            <a:pPr marL="0" lvl="0" indent="0" algn="just" rtl="0">
              <a:spcBef>
                <a:spcPts val="0"/>
              </a:spcBef>
              <a:spcAft>
                <a:spcPts val="0"/>
              </a:spcAft>
              <a:buNone/>
            </a:pPr>
            <a:endParaRPr sz="1600" dirty="0">
              <a:solidFill>
                <a:schemeClr val="tx1"/>
              </a:solidFill>
              <a:highlight>
                <a:srgbClr val="FFFFFF"/>
              </a:highlight>
              <a:latin typeface="Open Sans"/>
              <a:ea typeface="Open Sans"/>
              <a:cs typeface="Open Sans"/>
              <a:sym typeface="Open Sans"/>
            </a:endParaRPr>
          </a:p>
          <a:p>
            <a:pPr marL="0" lvl="0" indent="0" algn="just" rtl="0">
              <a:spcBef>
                <a:spcPts val="1600"/>
              </a:spcBef>
              <a:spcAft>
                <a:spcPts val="0"/>
              </a:spcAft>
              <a:buNone/>
            </a:pPr>
            <a:endParaRPr sz="1600" dirty="0">
              <a:solidFill>
                <a:schemeClr val="tx1"/>
              </a:solidFill>
              <a:highlight>
                <a:srgbClr val="FFFFFF"/>
              </a:highlight>
              <a:latin typeface="Open Sans"/>
              <a:ea typeface="Open Sans"/>
              <a:cs typeface="Open Sans"/>
              <a:sym typeface="Open Sans"/>
            </a:endParaRPr>
          </a:p>
          <a:p>
            <a:pPr marL="0" lvl="0" indent="0" algn="just" rtl="0">
              <a:spcBef>
                <a:spcPts val="1600"/>
              </a:spcBef>
              <a:spcAft>
                <a:spcPts val="1600"/>
              </a:spcAft>
              <a:buNone/>
            </a:pPr>
            <a:endParaRPr sz="1600" dirty="0">
              <a:solidFill>
                <a:schemeClr val="tx1"/>
              </a:solidFill>
              <a:highlight>
                <a:srgbClr val="FFFFFF"/>
              </a:highlight>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96"/>
        <p:cNvGrpSpPr/>
        <p:nvPr/>
      </p:nvGrpSpPr>
      <p:grpSpPr>
        <a:xfrm>
          <a:off x="0" y="0"/>
          <a:ext cx="0" cy="0"/>
          <a:chOff x="0" y="0"/>
          <a:chExt cx="0" cy="0"/>
        </a:xfrm>
      </p:grpSpPr>
      <p:sp>
        <p:nvSpPr>
          <p:cNvPr id="297" name="Google Shape;297;p7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98" name="Google Shape;298;p70"/>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7</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Governance:</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Roles and Responsibilities</a:t>
            </a:r>
            <a:endParaRPr sz="3000">
              <a:solidFill>
                <a:srgbClr val="FFFFFF"/>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FA9789-2451-9FDC-A139-F660B657280F}"/>
              </a:ext>
            </a:extLst>
          </p:cNvPr>
          <p:cNvSpPr txBox="1"/>
          <p:nvPr/>
        </p:nvSpPr>
        <p:spPr>
          <a:xfrm>
            <a:off x="93306" y="-79891"/>
            <a:ext cx="7595118" cy="9633406"/>
          </a:xfrm>
          <a:prstGeom prst="rect">
            <a:avLst/>
          </a:prstGeom>
          <a:noFill/>
        </p:spPr>
        <p:txBody>
          <a:bodyPr wrap="square">
            <a:spAutoFit/>
          </a:bodyPr>
          <a:lstStyle/>
          <a:p>
            <a:pPr>
              <a:buNone/>
            </a:pPr>
            <a:r>
              <a:rPr lang="en-US" sz="2000" dirty="0"/>
              <a:t>Several new data governance roles will be necessary. </a:t>
            </a:r>
          </a:p>
          <a:p>
            <a:pPr>
              <a:buNone/>
            </a:pPr>
            <a:endParaRPr lang="en-US" sz="2000" dirty="0"/>
          </a:p>
          <a:p>
            <a:pPr>
              <a:buNone/>
            </a:pPr>
            <a:r>
              <a:rPr lang="en-US" sz="2000" dirty="0"/>
              <a:t>For Data Quality Management, dedicated Data Stewards should be appointed for each critical data domain (Customers, Orders, Inventory, and Listings). These stewards will be responsible for monitoring data quality, implementing validation rules, performing data cleansing, and ensure accuracy, completeness and consistency in the master data. They may also address systemic data issues and ensure data quality standards are met.</a:t>
            </a:r>
          </a:p>
          <a:p>
            <a:pPr>
              <a:buNone/>
            </a:pPr>
            <a:endParaRPr lang="en-US" sz="2000" dirty="0"/>
          </a:p>
          <a:p>
            <a:pPr>
              <a:buNone/>
            </a:pPr>
            <a:r>
              <a:rPr lang="en-US" sz="2000" dirty="0"/>
              <a:t>For Metadata Management, a Metadata Manager and/or colleagues within the manager's team, should maintain and extend the Enterprise Data Catalog, documenting all entities, attributes, relationships, and business rules. This ensures metadata accuracy, updating business glossaries, and supporting both technical and operational metadata creation by IT personnel. </a:t>
            </a:r>
          </a:p>
          <a:p>
            <a:pPr>
              <a:buNone/>
            </a:pPr>
            <a:endParaRPr lang="en-US" sz="2000" dirty="0"/>
          </a:p>
          <a:p>
            <a:pPr>
              <a:buNone/>
            </a:pPr>
            <a:r>
              <a:rPr lang="en-US" sz="2000" dirty="0"/>
              <a:t>For Master Data Management (MDM), a Master Data Owner or MDM steward will oversee the creation and maintenance of golden records, define and review matching rules, approve or reject matched records, and handle exceptions to ensure consistent master data across source systems.</a:t>
            </a:r>
          </a:p>
          <a:p>
            <a:pPr>
              <a:buNone/>
            </a:pPr>
            <a:endParaRPr lang="en-US" sz="2000" dirty="0"/>
          </a:p>
          <a:p>
            <a:pPr>
              <a:buNone/>
            </a:pPr>
            <a:r>
              <a:rPr lang="en-US" sz="2000" dirty="0"/>
              <a:t>Currently, </a:t>
            </a:r>
            <a:r>
              <a:rPr lang="en-US" sz="2000" dirty="0" err="1"/>
              <a:t>SneakerPark’s</a:t>
            </a:r>
            <a:r>
              <a:rPr lang="en-US" sz="2000" dirty="0"/>
              <a:t> team consists of a senior business analyst and an IT support resource. It is recommended that the company hire additional personnel with the necessary skills and provide them responsibilities to oversee this new Data Management initiative, such as data stewards, data administrators, and additional technical. These new hires will provide the necessary expertise to allow for good data governance processes across </a:t>
            </a:r>
            <a:r>
              <a:rPr lang="en-US" sz="2000" dirty="0" err="1"/>
              <a:t>SneakerPark</a:t>
            </a:r>
            <a:endParaRPr lang="en-US" sz="2000" dirty="0"/>
          </a:p>
        </p:txBody>
      </p:sp>
    </p:spTree>
    <p:extLst>
      <p:ext uri="{BB962C8B-B14F-4D97-AF65-F5344CB8AC3E}">
        <p14:creationId xmlns:p14="http://schemas.microsoft.com/office/powerpoint/2010/main" val="43961393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Sheets">
    <a:dk1>
      <a:srgbClr val="000000"/>
    </a:dk1>
    <a:lt1>
      <a:srgbClr val="FFFFFF"/>
    </a:lt1>
    <a:dk2>
      <a:srgbClr val="000000"/>
    </a:dk2>
    <a:lt2>
      <a:srgbClr val="FFFFFF"/>
    </a:lt2>
    <a:accent1>
      <a:srgbClr val="4285F4"/>
    </a:accent1>
    <a:accent2>
      <a:srgbClr val="EA4335"/>
    </a:accent2>
    <a:accent3>
      <a:srgbClr val="FBBC04"/>
    </a:accent3>
    <a:accent4>
      <a:srgbClr val="34A853"/>
    </a:accent4>
    <a:accent5>
      <a:srgbClr val="FF6D01"/>
    </a:accent5>
    <a:accent6>
      <a:srgbClr val="46BDC6"/>
    </a:accent6>
    <a:hlink>
      <a:srgbClr val="1155CC"/>
    </a:hlink>
    <a:folHlink>
      <a:srgbClr val="1155CC"/>
    </a:folHlink>
  </a:clrScheme>
  <a:fontScheme name="Sheets">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1322</Words>
  <Application>Microsoft Office PowerPoint</Application>
  <PresentationFormat>Custom</PresentationFormat>
  <Paragraphs>76</Paragraphs>
  <Slides>18</Slides>
  <Notes>15</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18</vt:i4>
      </vt:variant>
    </vt:vector>
  </HeadingPairs>
  <TitlesOfParts>
    <vt:vector size="26" baseType="lpstr">
      <vt:lpstr>Helvetica Neue</vt:lpstr>
      <vt:lpstr>Open Sans</vt:lpstr>
      <vt:lpstr>Open Sans Light</vt:lpstr>
      <vt:lpstr>Arial</vt:lpstr>
      <vt:lpstr>Simple Light</vt:lpstr>
      <vt:lpstr>Simple Light</vt:lpstr>
      <vt:lpstr>Simple Light</vt:lpstr>
      <vt:lpstr>White</vt:lpstr>
      <vt:lpstr>Data Governance @ SneakerPark </vt:lpstr>
      <vt:lpstr>Background</vt:lpstr>
      <vt:lpstr>Background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Pranav</dc:creator>
  <cp:lastModifiedBy>Pranav Arya</cp:lastModifiedBy>
  <cp:revision>13</cp:revision>
  <dcterms:modified xsi:type="dcterms:W3CDTF">2025-12-24T23:50:21Z</dcterms:modified>
</cp:coreProperties>
</file>